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8229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463040"/>
            <a:ext cx="548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1463040"/>
            <a:ext cx="365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ProposalGuard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Precision in Proposal Generation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hallucination and bias crisis in AI-driven freelance workflows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grounding verification, counterfactual A/B testing, and human-in-the-loop review.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5486400" cy="9144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 Ali Khan  |  Muhammad Hassan  |  Muhammad Anas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435 — Responsible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Standard LLMs Fail Freelancers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proposals face three critical failure modes that damage credibility and lose contracts.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25603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fabricate skills, project names, and metrics that don't exist in the freelancer's actual experience. Clients discover the discrepancies.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56032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Cookie-cutter proposals that clients immediately recognise as AI-generated. No personalisation, no authentic voice, no specificity.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56032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256032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 Bias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models vary tone, pricing, and assertiveness based on the applicant's name or location — undermining equal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103120" cy="20116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progress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transparency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approve / reject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3931920" cy="20116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371600"/>
            <a:ext cx="3931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MemorySaver + interrupt()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2194560"/>
            <a:ext cx="658368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1945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21608" y="2240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58768" y="2194560"/>
            <a:ext cx="658368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21945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17136" y="2240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54296" y="2194560"/>
            <a:ext cx="658368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21945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2664" y="2240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9824" y="2194560"/>
            <a:ext cx="658368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21945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08192" y="2240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45352" y="2194560"/>
            <a:ext cx="658368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1945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6324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Conditional retry loops on failure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3760" y="1371600"/>
            <a:ext cx="1645920" cy="20116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371600"/>
            <a:ext cx="164592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1783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2148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past proposals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embeds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840480"/>
            <a:ext cx="937260" cy="274320"/>
          </a:xfrm>
          <a:prstGeom prst="rect">
            <a:avLst/>
          </a:prstGeom>
          <a:solidFill>
            <a:srgbClr val="1A2332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84048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68780" y="3840480"/>
            <a:ext cx="868680" cy="274320"/>
          </a:xfrm>
          <a:prstGeom prst="rect">
            <a:avLst/>
          </a:prstGeom>
          <a:solidFill>
            <a:srgbClr val="1A2332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8780" y="3840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28900" y="3840480"/>
            <a:ext cx="800100" cy="274320"/>
          </a:xfrm>
          <a:prstGeom prst="rect">
            <a:avLst/>
          </a:prstGeom>
          <a:solidFill>
            <a:srgbClr val="1A2332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8900" y="38404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20440" y="3840480"/>
            <a:ext cx="800100" cy="274320"/>
          </a:xfrm>
          <a:prstGeom prst="rect">
            <a:avLst/>
          </a:prstGeom>
          <a:solidFill>
            <a:srgbClr val="1A2332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8404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11980" y="3840480"/>
            <a:ext cx="868680" cy="274320"/>
          </a:xfrm>
          <a:prstGeom prst="rect">
            <a:avLst/>
          </a:prstGeom>
          <a:solidFill>
            <a:srgbClr val="1A2332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11980" y="3840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2100" y="3840480"/>
            <a:ext cx="1760220" cy="274320"/>
          </a:xfrm>
          <a:prstGeom prst="rect">
            <a:avLst/>
          </a:prstGeom>
          <a:solidFill>
            <a:srgbClr val="1A2332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2100" y="384048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DETAIL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Nodes, Each with Full Transparency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7276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572768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320040" cy="228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920240"/>
            <a:ext cx="1426464" cy="20116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202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Embeddings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" y="228600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job posting, queries ChromaDB for similar past proposals. Returns similarity scores per match.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76272" y="1371600"/>
            <a:ext cx="157276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1371600"/>
            <a:ext cx="1572768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1554480"/>
            <a:ext cx="320040" cy="228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9192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49424" y="1920240"/>
            <a:ext cx="1426464" cy="20116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2249424" y="19202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gpt-oss-120b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0" y="228600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personalised proposal using RFP + resume + retrieved context. Incorporates feedback on retries.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95344" y="1371600"/>
            <a:ext cx="157276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5344" y="1371600"/>
            <a:ext cx="1572768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005072" y="1554480"/>
            <a:ext cx="320040" cy="228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005072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98264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68496" y="1920240"/>
            <a:ext cx="1426464" cy="20116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6" name="Text 24"/>
          <p:cNvSpPr/>
          <p:nvPr/>
        </p:nvSpPr>
        <p:spPr>
          <a:xfrm>
            <a:off x="3968496" y="19202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llama-3.1-8b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05072" y="228600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factual claims, verifies each against source docs. Returns supported vs hallucinated claims.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14416" y="1371600"/>
            <a:ext cx="157276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4416" y="1371600"/>
            <a:ext cx="1572768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724144" y="1554480"/>
            <a:ext cx="320040" cy="228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1" name="Text 29"/>
          <p:cNvSpPr/>
          <p:nvPr/>
        </p:nvSpPr>
        <p:spPr>
          <a:xfrm>
            <a:off x="5724144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Check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87568" y="1920240"/>
            <a:ext cx="1426464" cy="20116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4" name="Text 32"/>
          <p:cNvSpPr/>
          <p:nvPr/>
        </p:nvSpPr>
        <p:spPr>
          <a:xfrm>
            <a:off x="5687568" y="19202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Sentence Transformers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724144" y="228600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A/B test: 3 demographic variants, compares pricing, tone, similarity, length.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33488" y="1371600"/>
            <a:ext cx="157276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33488" y="1371600"/>
            <a:ext cx="157276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7443216" y="1554480"/>
            <a:ext cx="320040" cy="228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9" name="Text 37"/>
          <p:cNvSpPr/>
          <p:nvPr/>
        </p:nvSpPr>
        <p:spPr>
          <a:xfrm>
            <a:off x="7443216" y="1554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36408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06640" y="1920240"/>
            <a:ext cx="1426464" cy="20116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19202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— no LLM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443216" y="228600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pipeline via LangGraph interrupt. User sees full transparency data. Approve or reject.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Tolerance for Hallucination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743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Claims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draft proposal and extracts every specific factual claim — technologies, metrics, project names, years of experience.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743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is checked against the resume and past proposals. Result: SUPPORTED or UNSUPPORTED. Score = supported / total claims.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3566160" cy="502920"/>
          </a:xfrm>
          <a:prstGeom prst="rect">
            <a:avLst/>
          </a:prstGeom>
          <a:solidFill>
            <a:srgbClr val="1C120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0.5 triggers automatic regeneration. Max 3 retries before forcing human review.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11480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71600"/>
            <a:ext cx="4114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Claims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RAG pipeline with ChromaDB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with FastAPI and Python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706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with Docker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962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years freelance experience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(Hallucinated)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 team of 12 engineers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latency by 60%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Score: 4/6 = 0.67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434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Below threshold — regenerating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 A/B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skills, same experience — only demographic variables change. Does the AI treat everyone equally?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Profiles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01168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Jamie Rivera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USA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1965960"/>
            <a:ext cx="201168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24912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Jamie Rivera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24912" y="2468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Berlin, Germany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965960"/>
            <a:ext cx="201168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Johnson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01184" y="2468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USA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6016" y="1965960"/>
            <a:ext cx="201168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77456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Johnson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77456" y="2468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Lagos, Nigeria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Comparison Dimensions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83280"/>
            <a:ext cx="201168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3730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suggest different rates?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41148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15% divergence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33472" y="338328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33472" y="3383280"/>
            <a:ext cx="20116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3730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vs assertive language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41148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±2 word shift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9744" y="338328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9744" y="3383280"/>
            <a:ext cx="201168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19472" y="3730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embeddings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41148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0.75 similarity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86016" y="3383280"/>
            <a:ext cx="2011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86016" y="3383280"/>
            <a:ext cx="201168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095744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Length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95744" y="3730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divergence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95744" y="41148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25% difference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&gt; 50% of thresholds violated → bias flagged → debiasing instructions generated → proposal regenerated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Pipeline, Human Final Say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via SSE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0116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28600" cy="228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/generate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874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opens SSE stream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1600200"/>
            <a:ext cx="20116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691640"/>
            <a:ext cx="228600" cy="228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2724912" y="1691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6642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node_complete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874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streams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9744" y="1600200"/>
            <a:ext cx="20116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691640"/>
            <a:ext cx="228600" cy="228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1691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16642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1874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pauses at review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86016" y="1600200"/>
            <a:ext cx="20116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1691640"/>
            <a:ext cx="228600" cy="228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7077456" y="1691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70064" y="16642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/resume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70064" y="1874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 or rejects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Reviewer Sees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201168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generated text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33472" y="2788920"/>
            <a:ext cx="201168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Score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claim-by-claim breakdown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9744" y="2788920"/>
            <a:ext cx="201168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Evaluation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profiles + metrics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86016" y="2788920"/>
            <a:ext cx="201168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95744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proposals with scores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2560320" cy="502920"/>
          </a:xfrm>
          <a:prstGeom prst="rect">
            <a:avLst/>
          </a:prstGeom>
          <a:solidFill>
            <a:srgbClr val="0B2A1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Pipeline ends, proposal ready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4069080"/>
            <a:ext cx="2926080" cy="502920"/>
          </a:xfrm>
          <a:prstGeom prst="rect">
            <a:avLst/>
          </a:prstGeom>
          <a:solidFill>
            <a:srgbClr val="2A1A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+ Feedback → Regenerates with changes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4069080"/>
            <a:ext cx="2468880" cy="502920"/>
          </a:xfrm>
          <a:prstGeom prst="rect">
            <a:avLst/>
          </a:prstGeom>
          <a:solidFill>
            <a:srgbClr val="1A0B2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 → Forces human decision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2606040"/>
            <a:ext cx="73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2606040"/>
            <a:ext cx="457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Paste a real job posting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 the pipeline process each node in real-time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 grounding claims verified, bias profiles compared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Approve or reject with 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ProposalGuard: Agentic Precision in Proposal Generation</dc:title>
  <dc:subject>PptxGenJS Presentation</dc:subject>
  <dc:creator>Basil Ali Khan, Muhammad Hassan, Muhammad Anas</dc:creator>
  <cp:lastModifiedBy>Basil Ali Khan, Muhammad Hassan, Muhammad Anas</cp:lastModifiedBy>
  <cp:revision>1</cp:revision>
  <dcterms:created xsi:type="dcterms:W3CDTF">2026-04-20T09:47:42Z</dcterms:created>
  <dcterms:modified xsi:type="dcterms:W3CDTF">2026-04-20T09:47:42Z</dcterms:modified>
</cp:coreProperties>
</file>