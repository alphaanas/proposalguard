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0327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463040"/>
            <a:ext cx="822960" cy="457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1463040"/>
            <a:ext cx="54864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011680" y="1463040"/>
            <a:ext cx="3657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459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8ED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ProposalGuard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Precision in Proposal Generation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29260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the hallucination and bias crisis in AI-driven freelance workflows</a:t>
            </a:r>
            <a:endParaRPr lang="en-US" sz="13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grounding verification, counterfactual A/B testing, and human-in-the-loop review.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4160520"/>
            <a:ext cx="5486400" cy="9144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Basil Ali Khan  |  Muhammad Hassan  |  Muhammad Anas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572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435 — Responsible AI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8ED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Standard LLMs Fail Freelancers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AI-generated proposals face three critical failure modes that damage credibility and lose contracts.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560320" cy="2560320"/>
          </a:xfrm>
          <a:prstGeom prst="rect">
            <a:avLst/>
          </a:prstGeom>
          <a:solidFill>
            <a:srgbClr val="111827"/>
          </a:solidFill>
          <a:ln w="6350">
            <a:solidFill>
              <a:srgbClr val="1A23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828800"/>
            <a:ext cx="2560320" cy="3657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116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377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ED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Hallucination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278892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fabricate skills, project names, and metrics that don't exist in the freelancer's actual experience. Clients discover the discrepancies.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29000" y="1828800"/>
            <a:ext cx="2560320" cy="2560320"/>
          </a:xfrm>
          <a:prstGeom prst="rect">
            <a:avLst/>
          </a:prstGeom>
          <a:solidFill>
            <a:srgbClr val="111827"/>
          </a:solidFill>
          <a:ln w="6350">
            <a:solidFill>
              <a:srgbClr val="1A23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29000" y="1828800"/>
            <a:ext cx="256032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20116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11880" y="2377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ED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Generic Output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11880" y="278892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Cookie-cutter proposals that clients immediately recognise as AI-generated. No personalisation, no authentic voice, no specificity.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828800"/>
            <a:ext cx="2560320" cy="2560320"/>
          </a:xfrm>
          <a:prstGeom prst="rect">
            <a:avLst/>
          </a:prstGeom>
          <a:solidFill>
            <a:srgbClr val="111827"/>
          </a:solidFill>
          <a:ln w="6350">
            <a:solidFill>
              <a:srgbClr val="1A23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828800"/>
            <a:ext cx="2560320" cy="36576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20116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2377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ED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Demographic Bias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400800" y="278892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Unfiltered models vary tone, pricing, and assertiveness based on the applicant's name or location — undermining equal opportunity.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8ED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End-to-End Pipeline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103120" cy="2011680"/>
          </a:xfrm>
          <a:prstGeom prst="rect">
            <a:avLst/>
          </a:prstGeom>
          <a:solidFill>
            <a:srgbClr val="111827"/>
          </a:solidFill>
          <a:ln w="6350">
            <a:solidFill>
              <a:srgbClr val="1A23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210312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508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D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4360" y="1783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+ TypeScript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21488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streaming progress</a:t>
            </a:r>
            <a:endParaRPr lang="en-US" sz="1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Per-node transparency</a:t>
            </a:r>
            <a:endParaRPr lang="en-US" sz="1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approve / reject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606040" y="21031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4748B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926080" y="1371600"/>
            <a:ext cx="3931920" cy="2011680"/>
          </a:xfrm>
          <a:prstGeom prst="rect">
            <a:avLst/>
          </a:prstGeom>
          <a:solidFill>
            <a:srgbClr val="111827"/>
          </a:solidFill>
          <a:ln w="6350">
            <a:solidFill>
              <a:srgbClr val="1A23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26080" y="1371600"/>
            <a:ext cx="393192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3063240" y="1508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D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LangGraph Pipeline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063240" y="17830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MemorySaver + interrupt()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063240" y="2194560"/>
            <a:ext cx="658368" cy="502920"/>
          </a:xfrm>
          <a:prstGeom prst="rect">
            <a:avLst/>
          </a:prstGeom>
          <a:solidFill>
            <a:srgbClr val="1A2332"/>
          </a:solidFill>
          <a:ln w="6350">
            <a:solidFill>
              <a:srgbClr val="22D3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63240" y="2194560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8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721608" y="224028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→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58768" y="2194560"/>
            <a:ext cx="658368" cy="502920"/>
          </a:xfrm>
          <a:prstGeom prst="rect">
            <a:avLst/>
          </a:prstGeom>
          <a:solidFill>
            <a:srgbClr val="1A2332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58768" y="2194560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8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517136" y="224028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→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54296" y="2194560"/>
            <a:ext cx="658368" cy="502920"/>
          </a:xfrm>
          <a:prstGeom prst="rect">
            <a:avLst/>
          </a:prstGeom>
          <a:solidFill>
            <a:srgbClr val="1A2332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54296" y="2194560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8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312664" y="224028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→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49824" y="2194560"/>
            <a:ext cx="658368" cy="502920"/>
          </a:xfrm>
          <a:prstGeom prst="rect">
            <a:avLst/>
          </a:prstGeom>
          <a:solidFill>
            <a:srgbClr val="1A2332"/>
          </a:solidFill>
          <a:ln w="635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49824" y="2194560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8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08192" y="224028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→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45352" y="2194560"/>
            <a:ext cx="658368" cy="502920"/>
          </a:xfrm>
          <a:prstGeom prst="rect">
            <a:avLst/>
          </a:prstGeom>
          <a:solidFill>
            <a:srgbClr val="1A2332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45352" y="2194560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8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063240" y="28803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Conditional retry loops on failure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903720" y="21031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4748B"/>
                </a:solidFill>
              </a:rPr>
              <a:t>→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7223760" y="1371600"/>
            <a:ext cx="1645920" cy="2011680"/>
          </a:xfrm>
          <a:prstGeom prst="rect">
            <a:avLst/>
          </a:prstGeom>
          <a:solidFill>
            <a:srgbClr val="111827"/>
          </a:solidFill>
          <a:ln w="6350">
            <a:solidFill>
              <a:srgbClr val="1A233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23760" y="1371600"/>
            <a:ext cx="1645920" cy="36576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0" y="1508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D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ChromaDB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315200" y="178308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315200" y="214884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past proposals</a:t>
            </a:r>
            <a:endParaRPr lang="en-US" sz="1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embeds</a:t>
            </a:r>
            <a:endParaRPr lang="en-US" sz="1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 search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" y="3840480"/>
            <a:ext cx="937260" cy="274320"/>
          </a:xfrm>
          <a:prstGeom prst="rect">
            <a:avLst/>
          </a:prstGeom>
          <a:solidFill>
            <a:srgbClr val="1A2332"/>
          </a:solidFill>
          <a:ln w="6350">
            <a:solidFill>
              <a:srgbClr val="1A23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3840480"/>
            <a:ext cx="9372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668780" y="3840480"/>
            <a:ext cx="868680" cy="274320"/>
          </a:xfrm>
          <a:prstGeom prst="rect">
            <a:avLst/>
          </a:prstGeom>
          <a:solidFill>
            <a:srgbClr val="1A2332"/>
          </a:solidFill>
          <a:ln w="6350">
            <a:solidFill>
              <a:srgbClr val="1A233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68780" y="38404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API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628900" y="3840480"/>
            <a:ext cx="800100" cy="274320"/>
          </a:xfrm>
          <a:prstGeom prst="rect">
            <a:avLst/>
          </a:prstGeom>
          <a:solidFill>
            <a:srgbClr val="1A2332"/>
          </a:solidFill>
          <a:ln w="6350">
            <a:solidFill>
              <a:srgbClr val="1A233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28900" y="38404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520440" y="3840480"/>
            <a:ext cx="800100" cy="274320"/>
          </a:xfrm>
          <a:prstGeom prst="rect">
            <a:avLst/>
          </a:prstGeom>
          <a:solidFill>
            <a:srgbClr val="1A2332"/>
          </a:solidFill>
          <a:ln w="6350">
            <a:solidFill>
              <a:srgbClr val="1A233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520440" y="38404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11980" y="3840480"/>
            <a:ext cx="868680" cy="274320"/>
          </a:xfrm>
          <a:prstGeom prst="rect">
            <a:avLst/>
          </a:prstGeom>
          <a:solidFill>
            <a:srgbClr val="1A2332"/>
          </a:solidFill>
          <a:ln w="6350">
            <a:solidFill>
              <a:srgbClr val="1A233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11980" y="38404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2100" y="3840480"/>
            <a:ext cx="1760220" cy="274320"/>
          </a:xfrm>
          <a:prstGeom prst="rect">
            <a:avLst/>
          </a:prstGeom>
          <a:solidFill>
            <a:srgbClr val="1A2332"/>
          </a:solidFill>
          <a:ln w="6350">
            <a:solidFill>
              <a:srgbClr val="1A233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2100" y="384048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Transformers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DETAIL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8ED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Nodes, Each with Full Transparency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572768" cy="3200400"/>
          </a:xfrm>
          <a:prstGeom prst="rect">
            <a:avLst/>
          </a:prstGeom>
          <a:solidFill>
            <a:srgbClr val="111827"/>
          </a:solidFill>
          <a:ln w="6350">
            <a:solidFill>
              <a:srgbClr val="1A23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1572768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54480"/>
            <a:ext cx="320040" cy="2286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554480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60120" y="155448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Retrieve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30352" y="1920240"/>
            <a:ext cx="1426464" cy="20116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920240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Embeddings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66928" y="2286000"/>
            <a:ext cx="13533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Embeds job posting, queries ChromaDB for similar past proposals. Returns similarity scores per match.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176272" y="1371600"/>
            <a:ext cx="1572768" cy="3200400"/>
          </a:xfrm>
          <a:prstGeom prst="rect">
            <a:avLst/>
          </a:prstGeom>
          <a:solidFill>
            <a:srgbClr val="111827"/>
          </a:solidFill>
          <a:ln w="6350">
            <a:solidFill>
              <a:srgbClr val="1A23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76272" y="1371600"/>
            <a:ext cx="1572768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4" name="Shape 12"/>
          <p:cNvSpPr/>
          <p:nvPr/>
        </p:nvSpPr>
        <p:spPr>
          <a:xfrm>
            <a:off x="2286000" y="1554480"/>
            <a:ext cx="320040" cy="2286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5" name="Text 13"/>
          <p:cNvSpPr/>
          <p:nvPr/>
        </p:nvSpPr>
        <p:spPr>
          <a:xfrm>
            <a:off x="2286000" y="1554480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79192" y="155448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249424" y="1920240"/>
            <a:ext cx="1426464" cy="20116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8" name="Text 16"/>
          <p:cNvSpPr/>
          <p:nvPr/>
        </p:nvSpPr>
        <p:spPr>
          <a:xfrm>
            <a:off x="2249424" y="1920240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gpt-oss-120b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2286000" y="2286000"/>
            <a:ext cx="13533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personalised proposal using RFP + resume + retrieved context. Incorporates feedback on retries.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95344" y="1371600"/>
            <a:ext cx="1572768" cy="3200400"/>
          </a:xfrm>
          <a:prstGeom prst="rect">
            <a:avLst/>
          </a:prstGeom>
          <a:solidFill>
            <a:srgbClr val="111827"/>
          </a:solidFill>
          <a:ln w="6350">
            <a:solidFill>
              <a:srgbClr val="1A23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95344" y="1371600"/>
            <a:ext cx="1572768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Shape 20"/>
          <p:cNvSpPr/>
          <p:nvPr/>
        </p:nvSpPr>
        <p:spPr>
          <a:xfrm>
            <a:off x="4005072" y="1554480"/>
            <a:ext cx="320040" cy="2286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3" name="Text 21"/>
          <p:cNvSpPr/>
          <p:nvPr/>
        </p:nvSpPr>
        <p:spPr>
          <a:xfrm>
            <a:off x="4005072" y="1554480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398264" y="155448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Verify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968496" y="1920240"/>
            <a:ext cx="1426464" cy="20116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6" name="Text 24"/>
          <p:cNvSpPr/>
          <p:nvPr/>
        </p:nvSpPr>
        <p:spPr>
          <a:xfrm>
            <a:off x="3968496" y="1920240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llama-3.1-8b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005072" y="2286000"/>
            <a:ext cx="13533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factual claims, verifies each against source docs. Returns supported vs hallucinated claims.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14416" y="1371600"/>
            <a:ext cx="1572768" cy="3200400"/>
          </a:xfrm>
          <a:prstGeom prst="rect">
            <a:avLst/>
          </a:prstGeom>
          <a:solidFill>
            <a:srgbClr val="111827"/>
          </a:solidFill>
          <a:ln w="6350">
            <a:solidFill>
              <a:srgbClr val="1A233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14416" y="1371600"/>
            <a:ext cx="1572768" cy="36576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30" name="Shape 28"/>
          <p:cNvSpPr/>
          <p:nvPr/>
        </p:nvSpPr>
        <p:spPr>
          <a:xfrm>
            <a:off x="5724144" y="1554480"/>
            <a:ext cx="320040" cy="2286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1" name="Text 29"/>
          <p:cNvSpPr/>
          <p:nvPr/>
        </p:nvSpPr>
        <p:spPr>
          <a:xfrm>
            <a:off x="5724144" y="1554480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117336" y="155448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Bias Check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87568" y="1920240"/>
            <a:ext cx="1426464" cy="20116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4" name="Text 32"/>
          <p:cNvSpPr/>
          <p:nvPr/>
        </p:nvSpPr>
        <p:spPr>
          <a:xfrm>
            <a:off x="5687568" y="1920240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+ Sentence Transformers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5724144" y="2286000"/>
            <a:ext cx="13533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 A/B test: 3 demographic variants, compares pricing, tone, similarity, length.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333488" y="1371600"/>
            <a:ext cx="1572768" cy="3200400"/>
          </a:xfrm>
          <a:prstGeom prst="rect">
            <a:avLst/>
          </a:prstGeom>
          <a:solidFill>
            <a:srgbClr val="111827"/>
          </a:solidFill>
          <a:ln w="6350">
            <a:solidFill>
              <a:srgbClr val="1A233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333488" y="1371600"/>
            <a:ext cx="1572768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8" name="Shape 36"/>
          <p:cNvSpPr/>
          <p:nvPr/>
        </p:nvSpPr>
        <p:spPr>
          <a:xfrm>
            <a:off x="7443216" y="1554480"/>
            <a:ext cx="320040" cy="2286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9" name="Text 37"/>
          <p:cNvSpPr/>
          <p:nvPr/>
        </p:nvSpPr>
        <p:spPr>
          <a:xfrm>
            <a:off x="7443216" y="1554480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36408" y="155448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 Review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7406640" y="1920240"/>
            <a:ext cx="1426464" cy="20116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42" name="Text 40"/>
          <p:cNvSpPr/>
          <p:nvPr/>
        </p:nvSpPr>
        <p:spPr>
          <a:xfrm>
            <a:off x="7406640" y="1920240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interrupt() — no LLM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443216" y="2286000"/>
            <a:ext cx="13533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Pauses pipeline via LangGraph interrupt. User sees full transparency data. Approve or reject.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VERIFICATION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8ED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 Tolerance for Hallucination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3291840"/>
          </a:xfrm>
          <a:prstGeom prst="rect">
            <a:avLst/>
          </a:prstGeom>
          <a:solidFill>
            <a:srgbClr val="111827"/>
          </a:solidFill>
          <a:ln w="6350">
            <a:solidFill>
              <a:srgbClr val="1A23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393192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08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D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1920240"/>
            <a:ext cx="274320" cy="2286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92024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1920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Claims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2402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reads the draft proposal and extracts every specific factual claim — technologies, metrics, project names, years of experience.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2926080"/>
            <a:ext cx="274320" cy="2286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92608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05840" y="29260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Against Sources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2461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claim is checked against the resume and past proposals. Result: SUPPORTED or UNSUPPORTED. Score = supported / total claims.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3931920"/>
            <a:ext cx="3566160" cy="502920"/>
          </a:xfrm>
          <a:prstGeom prst="rect">
            <a:avLst/>
          </a:prstGeom>
          <a:solidFill>
            <a:srgbClr val="1C1207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9776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Breaker: 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&lt; 0.6 triggers automatic regeneration. Max 3 retries before forcing human review.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1371600"/>
            <a:ext cx="4114800" cy="3291840"/>
          </a:xfrm>
          <a:prstGeom prst="rect">
            <a:avLst/>
          </a:prstGeom>
          <a:solidFill>
            <a:srgbClr val="111827"/>
          </a:solidFill>
          <a:ln w="635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n-PK" dirty="0"/>
          </a:p>
        </p:txBody>
      </p:sp>
      <p:sp>
        <p:nvSpPr>
          <p:cNvPr id="18" name="Shape 16"/>
          <p:cNvSpPr/>
          <p:nvPr/>
        </p:nvSpPr>
        <p:spPr>
          <a:xfrm>
            <a:off x="4663440" y="1371600"/>
            <a:ext cx="41148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508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D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Output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846320" y="1920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Claims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6320" y="21945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RAG pipeline with ChromaDB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46320" y="24505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with FastAPI and Python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46320" y="2706624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on AWS with Docker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0" y="3104300"/>
            <a:ext cx="3657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Unsupported (Hallucinated)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46320" y="3566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with C++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46320" y="38221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latency by 60%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46320" y="4206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Score: 3/6 = 0.50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46320" y="44348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Below threshold — regenerating</a:t>
            </a:r>
            <a:endParaRPr lang="en-US" sz="1000" dirty="0"/>
          </a:p>
        </p:txBody>
      </p:sp>
      <p:sp>
        <p:nvSpPr>
          <p:cNvPr id="30" name="Text 22">
            <a:extLst>
              <a:ext uri="{FF2B5EF4-FFF2-40B4-BE49-F238E27FC236}">
                <a16:creationId xmlns:a16="http://schemas.microsoft.com/office/drawing/2014/main" id="{702897F8-13AD-4F3A-912D-DAC516F5ECBB}"/>
              </a:ext>
            </a:extLst>
          </p:cNvPr>
          <p:cNvSpPr/>
          <p:nvPr/>
        </p:nvSpPr>
        <p:spPr>
          <a:xfrm>
            <a:off x="4846320" y="33329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</a:t>
            </a: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 years freelance experience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DETECTION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8ED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Counterfactual A/B Testing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skills, same experience — only demographic variables change. Does the AI treat everyone equally?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 Profiles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2011680" cy="868680"/>
          </a:xfrm>
          <a:prstGeom prst="rect">
            <a:avLst/>
          </a:prstGeom>
          <a:solidFill>
            <a:srgbClr val="111827"/>
          </a:solidFill>
          <a:ln w="635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0116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22402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Jamie Rivera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York, USA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33472" y="1965960"/>
            <a:ext cx="2011680" cy="868680"/>
          </a:xfrm>
          <a:prstGeom prst="rect">
            <a:avLst/>
          </a:prstGeom>
          <a:solidFill>
            <a:srgbClr val="111827"/>
          </a:solidFill>
          <a:ln w="6350">
            <a:solidFill>
              <a:srgbClr val="A78B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24912" y="20116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24912" y="22402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Jamie Rivera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24912" y="24688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Berlin, Germany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09744" y="1965960"/>
            <a:ext cx="2011680" cy="868680"/>
          </a:xfrm>
          <a:prstGeom prst="rect">
            <a:avLst/>
          </a:prstGeom>
          <a:solidFill>
            <a:srgbClr val="111827"/>
          </a:solidFill>
          <a:ln w="6350">
            <a:solidFill>
              <a:srgbClr val="A78B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01184" y="20116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B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901184" y="22402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 Johnson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01184" y="24688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York, USA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986016" y="1965960"/>
            <a:ext cx="2011680" cy="868680"/>
          </a:xfrm>
          <a:prstGeom prst="rect">
            <a:avLst/>
          </a:prstGeom>
          <a:solidFill>
            <a:srgbClr val="111827"/>
          </a:solidFill>
          <a:ln w="6350">
            <a:solidFill>
              <a:srgbClr val="A78B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77456" y="20116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C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077456" y="22402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 Johnson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77456" y="24688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Lagos, Nigeria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3063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Comparison Dimensions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83280"/>
            <a:ext cx="2011680" cy="1097280"/>
          </a:xfrm>
          <a:prstGeom prst="rect">
            <a:avLst/>
          </a:prstGeom>
          <a:solidFill>
            <a:srgbClr val="111827"/>
          </a:solidFill>
          <a:ln w="6350">
            <a:solidFill>
              <a:srgbClr val="1A23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3383280"/>
            <a:ext cx="2011680" cy="2743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34930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66928" y="37307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suggest different rates?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66928" y="411480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15% divergence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633472" y="3383280"/>
            <a:ext cx="2011680" cy="1097280"/>
          </a:xfrm>
          <a:prstGeom prst="rect">
            <a:avLst/>
          </a:prstGeom>
          <a:solidFill>
            <a:srgbClr val="111827"/>
          </a:solidFill>
          <a:ln w="6350">
            <a:solidFill>
              <a:srgbClr val="1A233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33472" y="3383280"/>
            <a:ext cx="2011680" cy="274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0" name="Text 28"/>
          <p:cNvSpPr/>
          <p:nvPr/>
        </p:nvSpPr>
        <p:spPr>
          <a:xfrm>
            <a:off x="2743200" y="34930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Tone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743200" y="37307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Hedging vs assertive language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743200" y="411480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±2 word shift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9744" y="3383280"/>
            <a:ext cx="2011680" cy="1097280"/>
          </a:xfrm>
          <a:prstGeom prst="rect">
            <a:avLst/>
          </a:prstGeom>
          <a:solidFill>
            <a:srgbClr val="111827"/>
          </a:solidFill>
          <a:ln w="6350">
            <a:solidFill>
              <a:srgbClr val="1A233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09744" y="3383280"/>
            <a:ext cx="2011680" cy="27432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5" name="Text 33"/>
          <p:cNvSpPr/>
          <p:nvPr/>
        </p:nvSpPr>
        <p:spPr>
          <a:xfrm>
            <a:off x="4919472" y="34930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Similarity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919472" y="37307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 of embeddings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919472" y="411480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0.75 similarity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986016" y="3383280"/>
            <a:ext cx="2011680" cy="1097280"/>
          </a:xfrm>
          <a:prstGeom prst="rect">
            <a:avLst/>
          </a:prstGeom>
          <a:solidFill>
            <a:srgbClr val="111827"/>
          </a:solidFill>
          <a:ln w="6350">
            <a:solidFill>
              <a:srgbClr val="1A233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986016" y="3383280"/>
            <a:ext cx="2011680" cy="274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0" name="Text 38"/>
          <p:cNvSpPr/>
          <p:nvPr/>
        </p:nvSpPr>
        <p:spPr>
          <a:xfrm>
            <a:off x="7095744" y="34930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Length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095744" y="37307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count divergence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095744" y="411480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25% difference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0080" y="46634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&gt; 50% of thresholds violated → bias flagged → debiasing instructions generated → proposal regenerated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IN THE LOOP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8ED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Transparent Pipeline, Human Final Say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via SSE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011680" cy="594360"/>
          </a:xfrm>
          <a:prstGeom prst="rect">
            <a:avLst/>
          </a:prstGeom>
          <a:solidFill>
            <a:srgbClr val="111827"/>
          </a:solidFill>
          <a:ln w="6350">
            <a:solidFill>
              <a:srgbClr val="1A23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91640"/>
            <a:ext cx="228600" cy="22860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9164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" y="16642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/generate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41248" y="187452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opens SSE stream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33472" y="1600200"/>
            <a:ext cx="2011680" cy="594360"/>
          </a:xfrm>
          <a:prstGeom prst="rect">
            <a:avLst/>
          </a:prstGeom>
          <a:solidFill>
            <a:srgbClr val="111827"/>
          </a:solidFill>
          <a:ln w="6350">
            <a:solidFill>
              <a:srgbClr val="1A23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24912" y="1691640"/>
            <a:ext cx="228600" cy="22860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2" name="Text 10"/>
          <p:cNvSpPr/>
          <p:nvPr/>
        </p:nvSpPr>
        <p:spPr>
          <a:xfrm>
            <a:off x="2724912" y="169164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17520" y="16642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node_complete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17520" y="187452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node streams results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09744" y="1600200"/>
            <a:ext cx="2011680" cy="594360"/>
          </a:xfrm>
          <a:prstGeom prst="rect">
            <a:avLst/>
          </a:prstGeom>
          <a:solidFill>
            <a:srgbClr val="111827"/>
          </a:solidFill>
          <a:ln w="6350">
            <a:solidFill>
              <a:srgbClr val="1A23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01184" y="1691640"/>
            <a:ext cx="228600" cy="22860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7" name="Text 15"/>
          <p:cNvSpPr/>
          <p:nvPr/>
        </p:nvSpPr>
        <p:spPr>
          <a:xfrm>
            <a:off x="4901184" y="169164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93792" y="16642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193792" y="187452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pauses at review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986016" y="1600200"/>
            <a:ext cx="2011680" cy="594360"/>
          </a:xfrm>
          <a:prstGeom prst="rect">
            <a:avLst/>
          </a:prstGeom>
          <a:solidFill>
            <a:srgbClr val="111827"/>
          </a:solidFill>
          <a:ln w="6350">
            <a:solidFill>
              <a:srgbClr val="1A23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077456" y="1691640"/>
            <a:ext cx="228600" cy="22860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22" name="Text 20"/>
          <p:cNvSpPr/>
          <p:nvPr/>
        </p:nvSpPr>
        <p:spPr>
          <a:xfrm>
            <a:off x="7077456" y="169164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70064" y="16642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/resume</a:t>
            </a:r>
          </a:p>
        </p:txBody>
      </p:sp>
      <p:sp>
        <p:nvSpPr>
          <p:cNvPr id="24" name="Text 22"/>
          <p:cNvSpPr/>
          <p:nvPr/>
        </p:nvSpPr>
        <p:spPr>
          <a:xfrm>
            <a:off x="7370064" y="187452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approves or rejects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0080" y="2468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Reviewer Sees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57200" y="2788920"/>
            <a:ext cx="2011680" cy="685800"/>
          </a:xfrm>
          <a:prstGeom prst="rect">
            <a:avLst/>
          </a:prstGeom>
          <a:solidFill>
            <a:srgbClr val="111827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28620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Proposal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3108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generated text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633472" y="2788920"/>
            <a:ext cx="2011680" cy="685800"/>
          </a:xfrm>
          <a:prstGeom prst="rect">
            <a:avLst/>
          </a:prstGeom>
          <a:solidFill>
            <a:srgbClr val="111827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0" y="28620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Score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743200" y="3108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claim-by-claim breakdown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809744" y="2788920"/>
            <a:ext cx="2011680" cy="685800"/>
          </a:xfrm>
          <a:prstGeom prst="rect">
            <a:avLst/>
          </a:prstGeom>
          <a:solidFill>
            <a:srgbClr val="111827"/>
          </a:solidFill>
          <a:ln w="6350">
            <a:solidFill>
              <a:srgbClr val="A78BF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19472" y="28620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Evaluation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919472" y="3108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 profiles + metrics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986016" y="2788920"/>
            <a:ext cx="2011680" cy="685800"/>
          </a:xfrm>
          <a:prstGeom prst="rect">
            <a:avLst/>
          </a:prstGeom>
          <a:solidFill>
            <a:srgbClr val="111827"/>
          </a:solidFill>
          <a:ln w="6350">
            <a:solidFill>
              <a:srgbClr val="22D3E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95744" y="28620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Documents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095744" y="3108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proposals with scores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" y="3749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457200" y="4069080"/>
            <a:ext cx="2560320" cy="502920"/>
          </a:xfrm>
          <a:prstGeom prst="rect">
            <a:avLst/>
          </a:prstGeom>
          <a:solidFill>
            <a:srgbClr val="0B2A1A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" y="41148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→ Pipeline ends, proposal ready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0400" y="4069080"/>
            <a:ext cx="2926080" cy="502920"/>
          </a:xfrm>
          <a:prstGeom prst="rect">
            <a:avLst/>
          </a:prstGeom>
          <a:solidFill>
            <a:srgbClr val="2A1A0B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337560" y="41148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+ Feedback → Regenerates with changes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09360" y="4069080"/>
            <a:ext cx="2468880" cy="502920"/>
          </a:xfrm>
          <a:prstGeom prst="rect">
            <a:avLst/>
          </a:prstGeom>
          <a:solidFill>
            <a:srgbClr val="1A0B2A"/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46520" y="4114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retries → Forces human decision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8ED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2606040"/>
            <a:ext cx="109728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" name="Shape 2"/>
          <p:cNvSpPr/>
          <p:nvPr/>
        </p:nvSpPr>
        <p:spPr>
          <a:xfrm>
            <a:off x="1737360" y="2606040"/>
            <a:ext cx="73152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2468880" y="2606040"/>
            <a:ext cx="4572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92608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8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Paste a real job posting</a:t>
            </a:r>
            <a:endParaRPr lang="en-US" sz="1400" dirty="0"/>
          </a:p>
          <a:p>
            <a:pPr marL="0" indent="0">
              <a:lnSpc>
                <a:spcPct val="18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Watch the pipeline process each node in real-time</a:t>
            </a:r>
            <a:endParaRPr lang="en-US" sz="1400" dirty="0"/>
          </a:p>
          <a:p>
            <a:pPr marL="0" indent="0">
              <a:lnSpc>
                <a:spcPct val="18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See grounding claims verified, bias profiles compared</a:t>
            </a:r>
            <a:endParaRPr lang="en-US" sz="1400" dirty="0"/>
          </a:p>
          <a:p>
            <a:pPr marL="0" indent="0">
              <a:lnSpc>
                <a:spcPct val="18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Approve or reject with feedback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703</Words>
  <Application>Microsoft Office PowerPoint</Application>
  <PresentationFormat>On-screen Show (16:9)</PresentationFormat>
  <Paragraphs>164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ProposalGuard: Agentic Precision in Proposal Generation</dc:title>
  <dc:subject>PptxGenJS Presentation</dc:subject>
  <dc:creator>Basil Ali Khan, Muhammad Hassan, Muhammad Anas</dc:creator>
  <cp:lastModifiedBy>Basil Ali Khan</cp:lastModifiedBy>
  <cp:revision>5</cp:revision>
  <dcterms:created xsi:type="dcterms:W3CDTF">2026-04-20T09:47:42Z</dcterms:created>
  <dcterms:modified xsi:type="dcterms:W3CDTF">2026-04-20T12:12:52Z</dcterms:modified>
</cp:coreProperties>
</file>